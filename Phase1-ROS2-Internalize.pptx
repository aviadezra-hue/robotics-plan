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4156C8"/>
                </a:solidFill>
                <a:latin typeface="Calibri"/>
              </a:rPr>
              <a:t>Phase 1: ROS 2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Internalize the mental model — nodes, topics, services, parameters,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launch, bags, custom messages, and the pub/sub coding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28016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How to use this deck: spend 1–2 min per slide. After Slide 18, close the deck and try to recreate the talker/listener and the odom_demo package from memory. The slides you struggle to recall are the topics to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667A"/>
                </a:solidFill>
                <a:latin typeface="Calibri"/>
              </a:rPr>
              <a:t>Aviad · ROS 2 Jazzy · Ubuntu 24.04 (WSL2)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Why ROS 2 exists (in one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A middleware so robotics code is composable, language-agnostic, and replaceable.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156C8"/>
                </a:solidFill>
                <a:latin typeface="Calibri"/>
              </a:rPr>
              <a:t>Problem: </a:t>
            </a:r>
            <a:r>
              <a:rPr sz="1800">
                <a:solidFill>
                  <a:srgbClr val="1F2937"/>
                </a:solidFill>
                <a:latin typeface="Calibri"/>
              </a:rPr>
              <a:t>robots = many concurrent processes (sensors, planners, controllers, UI). Each one needs to talk to others — over messages, with timing, across languages, across machines.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156C8"/>
                </a:solidFill>
                <a:latin typeface="Calibri"/>
              </a:rPr>
              <a:t>ROS 2's answer: </a:t>
            </a:r>
            <a:r>
              <a:rPr sz="1800">
                <a:solidFill>
                  <a:srgbClr val="1F2937"/>
                </a:solidFill>
                <a:latin typeface="Calibri"/>
              </a:rPr>
              <a:t>a pub/sub middleware (DDS) + a graph of small processes (nodes) + a contract language (.msg / .srv / .action) + a build system (colcon / ament).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156C8"/>
                </a:solidFill>
                <a:latin typeface="Calibri"/>
              </a:rPr>
              <a:t>Consequence: </a:t>
            </a:r>
            <a:r>
              <a:rPr sz="1800">
                <a:solidFill>
                  <a:srgbClr val="1F2937"/>
                </a:solidFill>
                <a:latin typeface="Calibri"/>
              </a:rPr>
              <a:t>your wall-follower works whether the robot is a sim turtle, a TurtleBot, or a custom build — as long as the interface (/cmd_vel + /scan) matches.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156C8"/>
                </a:solidFill>
                <a:latin typeface="Calibri"/>
              </a:rPr>
              <a:t>What you actually learn in Phase 1: </a:t>
            </a:r>
            <a:r>
              <a:rPr sz="1800">
                <a:solidFill>
                  <a:srgbClr val="1F2937"/>
                </a:solidFill>
                <a:latin typeface="Calibri"/>
              </a:rPr>
              <a:t>the building blocks every Phase 2/3/4/5 demo is made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The ROS 2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Everything is a node. Nodes talk over named channels.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1920240" cy="822960"/>
          </a:xfrm>
          <a:prstGeom prst="ellipse">
            <a:avLst/>
          </a:prstGeom>
          <a:solidFill>
            <a:srgbClr val="E6EAFA"/>
          </a:solidFill>
          <a:ln w="2540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4156C8"/>
                </a:solidFill>
              </a:rPr>
              <a:t>talker
(publisher)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2286000"/>
            <a:ext cx="1920240" cy="822960"/>
          </a:xfrm>
          <a:prstGeom prst="ellipse">
            <a:avLst/>
          </a:prstGeom>
          <a:solidFill>
            <a:srgbClr val="E6EAFA"/>
          </a:solidFill>
          <a:ln w="2540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4156C8"/>
                </a:solidFill>
              </a:rPr>
              <a:t>/chatter
(topic)</a:t>
            </a:r>
          </a:p>
        </p:txBody>
      </p:sp>
      <p:sp>
        <p:nvSpPr>
          <p:cNvPr id="7" name="Oval 6"/>
          <p:cNvSpPr/>
          <p:nvPr/>
        </p:nvSpPr>
        <p:spPr>
          <a:xfrm>
            <a:off x="9326880" y="2286000"/>
            <a:ext cx="1920240" cy="822960"/>
          </a:xfrm>
          <a:prstGeom prst="ellipse">
            <a:avLst/>
          </a:prstGeom>
          <a:solidFill>
            <a:srgbClr val="E6EAFA"/>
          </a:solidFill>
          <a:ln w="2540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4156C8"/>
                </a:solidFill>
              </a:rPr>
              <a:t>listener
(subscriber)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697480"/>
            <a:ext cx="2286000" cy="0"/>
          </a:xfrm>
          <a:prstGeom prst="line">
            <a:avLst/>
          </a:prstGeom>
          <a:ln w="25400">
            <a:solidFill>
              <a:srgbClr val="55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8999" y="2468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667A"/>
                </a:solidFill>
                <a:latin typeface="Calibri"/>
              </a:rPr>
              <a:t>publishes 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80" y="2697480"/>
            <a:ext cx="2286000" cy="0"/>
          </a:xfrm>
          <a:prstGeom prst="line">
            <a:avLst/>
          </a:prstGeom>
          <a:ln w="25400">
            <a:solidFill>
              <a:srgbClr val="55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35240" y="2468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667A"/>
                </a:solidFill>
                <a:latin typeface="Calibri"/>
              </a:rPr>
              <a:t>delivers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Node: </a:t>
            </a:r>
            <a:r>
              <a:rPr sz="1700">
                <a:solidFill>
                  <a:srgbClr val="1F2937"/>
                </a:solidFill>
                <a:latin typeface="Calibri"/>
              </a:rPr>
              <a:t>a process. Owns its state. Created via rclpy.Node (Python) or rclcpp::Node (C++).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Topic: </a:t>
            </a:r>
            <a:r>
              <a:rPr sz="1700">
                <a:solidFill>
                  <a:srgbClr val="1F2937"/>
                </a:solidFill>
                <a:latin typeface="Calibri"/>
              </a:rPr>
              <a:t>a named, typed channel. Multiple publishers/subscribers allowed. Best-effort or reliable QoS.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Discovery is automatic: </a:t>
            </a:r>
            <a:r>
              <a:rPr sz="1700">
                <a:solidFill>
                  <a:srgbClr val="1F2937"/>
                </a:solidFill>
                <a:latin typeface="Calibri"/>
              </a:rPr>
              <a:t>every node on the same DOMAIN_ID sees every other node — no central broker.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Three communication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Pick the right one or your robot's behaviour will fight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75488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4156C8"/>
                </a:solidFill>
                <a:latin typeface="Calibri"/>
              </a:rPr>
              <a:t>🔁 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38328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Continuous data streams.
Pub/sub, fire-and-forget.
Many→many.
Examples:
• /scan (lidar @ 5 Hz)
• /odom (state @ 50 Hz)
• /cmd_vel (velocity setpoint)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657600" cy="475488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4156C8"/>
                </a:solidFill>
                <a:latin typeface="Calibri"/>
              </a:rPr>
              <a:t>📞 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38328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One-shot request/response.
Blocking, synchronous.
One client → one server.
Examples:
• /spawn (create turtle)
• /set_pen (change colour)
• /add_two_ints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657600" cy="475488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91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4156C8"/>
                </a:solidFill>
                <a:latin typeface="Calibri"/>
              </a:rPr>
              <a:t>⏳ 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338328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Long-running goals with
feedback + cancel.
Goal/result/feedback.
One client → one server.
Examples:
• /navigate_to_pose
• /follow_path
• /pick_object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Topics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The bread and butter of ROS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Strongly typed: </a:t>
            </a:r>
            <a:r>
              <a:rPr sz="1600">
                <a:solidFill>
                  <a:srgbClr val="1F2937"/>
                </a:solidFill>
                <a:latin typeface="Calibri"/>
              </a:rPr>
              <a:t>every topic has a message type. Mismatched types → silent no-delivery.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QoS settings: </a:t>
            </a:r>
            <a:r>
              <a:rPr sz="1600">
                <a:solidFill>
                  <a:srgbClr val="1F2937"/>
                </a:solidFill>
                <a:latin typeface="Calibri"/>
              </a:rPr>
              <a:t>reliability (best-effort vs reliable), durability (volatile vs transient_local), depth, deadline. Defaults work for most things.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Multiple publishers OK: </a:t>
            </a:r>
            <a:r>
              <a:rPr sz="1600">
                <a:solidFill>
                  <a:srgbClr val="1F2937"/>
                </a:solidFill>
                <a:latin typeface="Calibri"/>
              </a:rPr>
              <a:t>first writer wins by timestamp. Subscribers don't care who wrote.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Topic remapping at launch: </a:t>
            </a:r>
            <a:r>
              <a:rPr sz="1600">
                <a:solidFill>
                  <a:srgbClr val="1F2937"/>
                </a:solidFill>
                <a:latin typeface="Calibri"/>
              </a:rPr>
              <a:t>rename a node's /cmd_vel → /turtle1/cmd_vel without touching the node's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4114800" cy="41148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ros2 topic list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info /odom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echo /odom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hz /odom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pub /cmd_vel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geometry_msgs/msg/Twist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'{linear: {x: 0.2},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angular: {z: 0.5}}'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pub /cmd_vel ... -r 1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# republish at 1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Services &amp;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Synchronous calls + live-tunable config.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Services = call/reply </a:t>
            </a:r>
            <a:r>
              <a:rPr sz="1600">
                <a:solidFill>
                  <a:srgbClr val="1F2937"/>
                </a:solidFill>
                <a:latin typeface="Calibri"/>
              </a:rPr>
              <a:t>via .srv files. Examples: spawn turtle, kill turtle, set_pen.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Use them sparingly: </a:t>
            </a:r>
            <a:r>
              <a:rPr sz="1600">
                <a:solidFill>
                  <a:srgbClr val="1F2937"/>
                </a:solidFill>
                <a:latin typeface="Calibri"/>
              </a:rPr>
              <a:t>topics scale better. Services block the caller until the server replies.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Parameters = live config </a:t>
            </a:r>
            <a:r>
              <a:rPr sz="1600">
                <a:solidFill>
                  <a:srgbClr val="1F2937"/>
                </a:solidFill>
                <a:latin typeface="Calibri"/>
              </a:rPr>
              <a:t>per-node typed values. Declared in code, set at launch, can be changed at runtime.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Use cases: </a:t>
            </a:r>
            <a:r>
              <a:rPr sz="1600">
                <a:solidFill>
                  <a:srgbClr val="1F2937"/>
                </a:solidFill>
                <a:latin typeface="Calibri"/>
              </a:rPr>
              <a:t>publish rate, frame_id, max velocity, K-gains, file paths.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Why this matters: </a:t>
            </a:r>
            <a:r>
              <a:rPr sz="1600">
                <a:solidFill>
                  <a:srgbClr val="1F2937"/>
                </a:solidFill>
                <a:latin typeface="Calibri"/>
              </a:rPr>
              <a:t>tuning Nav2 in Phase 3 is 80% twiddling parameters — you'll do this every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303520" cy="45720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# Services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service list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service type /spawn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service call /spawn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turtlesim/srv/Spawn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'{x: 5, y: 5, name: t2}'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Parameters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param list /turtlesim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param get /turtlesim background_r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param set /turtlesim background_r 200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param dump /turtlesim &gt; tsim.yaml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Launch files = the deployment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One .launch.py starts N nodes with the right params and remappings.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Why: </a:t>
            </a:r>
            <a:r>
              <a:rPr sz="1600">
                <a:solidFill>
                  <a:srgbClr val="1F2937"/>
                </a:solidFill>
                <a:latin typeface="Calibri"/>
              </a:rPr>
              <a:t>real systems aren't one node — Nav2 = ~15 nodes, MoveIt = ~10.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Written in Python </a:t>
            </a:r>
            <a:r>
              <a:rPr sz="1600">
                <a:solidFill>
                  <a:srgbClr val="1F2937"/>
                </a:solidFill>
                <a:latin typeface="Calibri"/>
              </a:rPr>
              <a:t>(launch_ros + launch). Composable: launch files can include other launch files.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DeclareLaunchArgument </a:t>
            </a:r>
            <a:r>
              <a:rPr sz="1600">
                <a:solidFill>
                  <a:srgbClr val="1F2937"/>
                </a:solidFill>
                <a:latin typeface="Calibri"/>
              </a:rPr>
              <a:t>exposes CLI args: ros2 launch pkg foo.launch.py rate:=50.0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Remappings: </a:t>
            </a:r>
            <a:r>
              <a:rPr sz="1600">
                <a:solidFill>
                  <a:srgbClr val="1F2937"/>
                </a:solidFill>
                <a:latin typeface="Calibri"/>
              </a:rPr>
              <a:t>rename topics per-node without touching code.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Parameters: </a:t>
            </a:r>
            <a:r>
              <a:rPr sz="1600">
                <a:solidFill>
                  <a:srgbClr val="1F2937"/>
                </a:solidFill>
                <a:latin typeface="Calibri"/>
              </a:rPr>
              <a:t>passed in as a dict — overrides node defaults.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303520" cy="45720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200">
                <a:solidFill>
                  <a:srgbClr val="E2E8F0"/>
                </a:solidFill>
                <a:latin typeface="Consolas"/>
              </a:rPr>
              <a:t>from launch import LaunchDescription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from launch_ros.actions import Node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def generate_launch_description():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return LaunchDescription([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Node(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  package='odom_demo',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  executable='odom_publisher',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  name='odom_pub',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  parameters=[{'publish_rate_hz': 10.0}],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  remappings=[('/odom','/turtle1/odom')],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),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Bags = record / replay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rosbag2 is your debugger, your dataset, and your CI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Record any/all topics: </a:t>
            </a:r>
            <a:r>
              <a:rPr sz="1700">
                <a:solidFill>
                  <a:srgbClr val="1F2937"/>
                </a:solidFill>
                <a:latin typeface="Calibri"/>
              </a:rPr>
              <a:t>ros2 bag record /odom /scan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Replay later: </a:t>
            </a:r>
            <a:r>
              <a:rPr sz="1700">
                <a:solidFill>
                  <a:srgbClr val="1F2937"/>
                </a:solidFill>
                <a:latin typeface="Calibri"/>
              </a:rPr>
              <a:t>ros2 bag play &lt;dir&gt; — every subscriber sees the original timing.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Use cases: </a:t>
            </a:r>
            <a:r>
              <a:rPr sz="1700">
                <a:solidFill>
                  <a:srgbClr val="1F2937"/>
                </a:solidFill>
                <a:latin typeface="Calibri"/>
              </a:rPr>
              <a:t>debug a crash from yesterday's run, build a regression test, train a perception model offline, share a reproducer.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Stored as MCAP/SQLite </a:t>
            </a:r>
            <a:r>
              <a:rPr sz="1700">
                <a:solidFill>
                  <a:srgbClr val="1F2937"/>
                </a:solidFill>
                <a:latin typeface="Calibri"/>
              </a:rPr>
              <a:t>with full QoS + type info — fully self-contained, no schema setup needed on replay.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Pro tip: </a:t>
            </a:r>
            <a:r>
              <a:rPr sz="1700">
                <a:solidFill>
                  <a:srgbClr val="1F2937"/>
                </a:solidFill>
                <a:latin typeface="Calibri"/>
              </a:rPr>
              <a:t>log bags from every real-robot run. Storage is cheap; missing data is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4114800" cy="23774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ros2 bag record -a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bag record /odom /scan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bag info &lt;dir&gt;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bag play &lt;dir&gt; --rate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Custom messages (.msg)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Define your own typed contract once → use from Python and C++.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Lives in a separate package </a:t>
            </a:r>
            <a:r>
              <a:rPr sz="1600">
                <a:solidFill>
                  <a:srgbClr val="1F2937"/>
                </a:solidFill>
                <a:latin typeface="Calibri"/>
              </a:rPr>
              <a:t>of build type ament_cmake (Python build can't generate IDL).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Use rosidl_generate_interfaces </a:t>
            </a:r>
            <a:r>
              <a:rPr sz="1600">
                <a:solidFill>
                  <a:srgbClr val="1F2937"/>
                </a:solidFill>
                <a:latin typeface="Calibri"/>
              </a:rPr>
              <a:t>in CMakeLists.txt; declare rosidl_default_generators + runtime in package.xml.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Field types: </a:t>
            </a:r>
            <a:r>
              <a:rPr sz="1600">
                <a:solidFill>
                  <a:srgbClr val="1F2937"/>
                </a:solidFill>
                <a:latin typeface="Calibri"/>
              </a:rPr>
              <a:t>primitive (float64, int32, string), arrays (float64[5]), other msgs (geometry_msgs/Pose), builtin_interfaces/Time.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Why: </a:t>
            </a:r>
            <a:r>
              <a:rPr sz="1600">
                <a:solidFill>
                  <a:srgbClr val="1F2937"/>
                </a:solidFill>
                <a:latin typeface="Calibri"/>
              </a:rPr>
              <a:t>your team can share a precise data contract — no JSON guessing, no protobuf setup. ROS 2 builds the Python + C++ classes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# msg/VelocityStats.msg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builtin_interfaces/Time stamp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float64 linear_speed       # m/s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float64 angular_speed      # rad/s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float64 distance_traveled  # 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uint32  sample_count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Use from Python: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from odom_demo_msgs.msg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import VelocityStats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The pub/sub coding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Memorize this shape. Every Python node you'll ever write looks like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45720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import rclpy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from rclpy.node import Node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from std_msgs.msg import String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class MyNode(Node):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def __init__(self):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super().__init__('my_node')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self.declare_parameter('rate_hz', 10.0)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rate = self.get_parameter('rate_hz').value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self.pub = self.create_publisher(String, '/out', 10)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self.sub = self.create_subscription(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    String, '/in', self.on_msg, 10)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self.timer = self.create_timer(1.0/rate, self.tick)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def on_msg(self, msg): ...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def tick(self):         ...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def main():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rclpy.init(); rclpy.spin(MyNode()); rclpy.shutdown()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156C8"/>
                </a:solidFill>
                <a:latin typeface="Calibri"/>
              </a:rPr>
              <a:t>Subclass Node </a:t>
            </a:r>
            <a:r>
              <a:rPr sz="1400">
                <a:solidFill>
                  <a:srgbClr val="1F2937"/>
                </a:solidFill>
                <a:latin typeface="Calibri"/>
              </a:rPr>
              <a:t>→ get logging, params, pubs, subs, timers, services.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156C8"/>
                </a:solidFill>
                <a:latin typeface="Calibri"/>
              </a:rPr>
              <a:t>Declare parameters first </a:t>
            </a:r>
            <a:r>
              <a:rPr sz="1400">
                <a:solidFill>
                  <a:srgbClr val="1F2937"/>
                </a:solidFill>
                <a:latin typeface="Calibri"/>
              </a:rPr>
              <a:t>with defaults.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156C8"/>
                </a:solidFill>
                <a:latin typeface="Calibri"/>
              </a:rPr>
              <a:t>Create pubs / subs / timers in __init__ </a:t>
            </a:r>
            <a:r>
              <a:rPr sz="1400">
                <a:solidFill>
                  <a:srgbClr val="1F2937"/>
                </a:solidFill>
                <a:latin typeface="Calibri"/>
              </a:rPr>
              <a:t>, do work in callbacks.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156C8"/>
                </a:solidFill>
                <a:latin typeface="Calibri"/>
              </a:rPr>
              <a:t>Never block in a callback </a:t>
            </a:r>
            <a:r>
              <a:rPr sz="1400">
                <a:solidFill>
                  <a:srgbClr val="1F2937"/>
                </a:solidFill>
                <a:latin typeface="Calibri"/>
              </a:rPr>
              <a:t>— it stops other callbacks.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156C8"/>
                </a:solidFill>
                <a:latin typeface="Calibri"/>
              </a:rPr>
              <a:t>Use rclpy.spin </a:t>
            </a:r>
            <a:r>
              <a:rPr sz="1400">
                <a:solidFill>
                  <a:srgbClr val="1F2937"/>
                </a:solidFill>
                <a:latin typeface="Calibri"/>
              </a:rPr>
              <a:t>to run the event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Workspace &amp; package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Where code lives, how it's built, why colcon scans src/ recursively.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47548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200">
                <a:solidFill>
                  <a:srgbClr val="E2E8F0"/>
                </a:solidFill>
                <a:latin typeface="Consolas"/>
              </a:rPr>
              <a:t>~/ros2_ws/                ← workspace root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├── src/                  ← your source goes here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├── odom_demo_msgs/   ← ament_cmake (for .msg)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│   ├── CMakeLists.txt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│   ├── package.xml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│   └── msg/VelocityStats.msg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└── odom_demo/        ← ament_python (for nodes)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├── package.xml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├── setup.py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├── odom_demo/    ← INNER python module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│   ├── __init__.py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│   ├── odom_publisher.py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│   └── odom_subscriber.py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│       └── launch/demo.launch.py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├── build/    ← colcon scratch (gitignored)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├── install/  ← built artefacts (source setup.bash)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└── log/      ← per-build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156C8"/>
                </a:solidFill>
                <a:latin typeface="Calibri"/>
              </a:rPr>
              <a:t>colcon build </a:t>
            </a:r>
            <a:r>
              <a:rPr sz="1300">
                <a:solidFill>
                  <a:srgbClr val="1F2937"/>
                </a:solidFill>
                <a:latin typeface="Calibri"/>
              </a:rPr>
              <a:t>from the workspace root scans src/ recursively and builds in dependency order.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156C8"/>
                </a:solidFill>
                <a:latin typeface="Calibri"/>
              </a:rPr>
              <a:t>source install/setup.bash </a:t>
            </a:r>
            <a:r>
              <a:rPr sz="1300">
                <a:solidFill>
                  <a:srgbClr val="1F2937"/>
                </a:solidFill>
                <a:latin typeface="Calibri"/>
              </a:rPr>
              <a:t>puts the built packages on your PATH + PYTHONPATH for this shell.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156C8"/>
                </a:solidFill>
                <a:latin typeface="Calibri"/>
              </a:rPr>
              <a:t>--packages-select </a:t>
            </a:r>
            <a:r>
              <a:rPr sz="1300">
                <a:solidFill>
                  <a:srgbClr val="1F2937"/>
                </a:solidFill>
                <a:latin typeface="Calibri"/>
              </a:rPr>
              <a:t>builds only what you name (much faster).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156C8"/>
                </a:solidFill>
                <a:latin typeface="Calibri"/>
              </a:rPr>
              <a:t>Re-build after editing .msg </a:t>
            </a:r>
            <a:r>
              <a:rPr sz="1300">
                <a:solidFill>
                  <a:srgbClr val="1F2937"/>
                </a:solidFill>
                <a:latin typeface="Calibri"/>
              </a:rPr>
              <a:t>→ always. After editing .py → optional with symlink-install.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Phase 1 CLI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If you forget any of these, run the command with --help.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# Discovery / introspection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node    list / info /name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  list / info / type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service list / type / call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param   list / get / set / dump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action  list / info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interface show &lt;pkg&gt;/msg/&lt;Name&gt;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Live traffic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echo /odom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hz /odom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topic pub /cmd_vel ... -r 1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Visualize the graph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rqt_graph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50292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# Build / source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cd ~/ros2_ws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colcon build --packages-select &lt;pkg&gt;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source install/setup.bash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Scaffold packages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pkg create --build-type ament_python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&lt;name&gt; --license Apache-2.0 \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--dependencies rclpy ...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Launch &amp; bags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launch &lt;pkg&gt; &lt;file&gt;.launch.py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bag record -a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bag play &lt;dir&gt;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# Daemon (when discovery acts weird)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ros2 daemon stop &amp;&amp; ros2 daemon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Step 2.8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Mimic + 2 remappings — the whole secret of ROS 2 composability.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11680" cy="77724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156C8"/>
                </a:solidFill>
              </a:rPr>
              <a:t>teleop_key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965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667A"/>
                </a:solidFill>
                <a:latin typeface="Calibri"/>
              </a:rPr>
              <a:t>/turtle1/cmd_vel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20240"/>
            <a:ext cx="2926080" cy="77724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156C8"/>
                </a:solidFill>
              </a:rPr>
              <a:t>turtlesim_node
(turtle1 + turtle2)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667A"/>
                </a:solidFill>
                <a:latin typeface="Calibri"/>
              </a:rPr>
              <a:t>/turtle1/pose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20240"/>
            <a:ext cx="2011680" cy="77724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156C8"/>
                </a:solidFill>
              </a:rPr>
              <a:t>mimic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667A"/>
                </a:solidFill>
                <a:latin typeface="Calibri"/>
              </a:rPr>
              <a:t>← /turtle2/cmd_vel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304288"/>
            <a:ext cx="1371600" cy="0"/>
          </a:xfrm>
          <a:prstGeom prst="line">
            <a:avLst/>
          </a:prstGeom>
          <a:ln w="25400">
            <a:solidFill>
              <a:srgbClr val="55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2304288"/>
            <a:ext cx="1554480" cy="0"/>
          </a:xfrm>
          <a:prstGeom prst="line">
            <a:avLst/>
          </a:prstGeom>
          <a:ln w="25400">
            <a:solidFill>
              <a:srgbClr val="55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766560" y="2834640"/>
            <a:ext cx="1554480" cy="0"/>
          </a:xfrm>
          <a:prstGeom prst="line">
            <a:avLst/>
          </a:prstGeom>
          <a:ln w="25400">
            <a:solidFill>
              <a:srgbClr val="556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Mimic is a generic node. </a:t>
            </a:r>
            <a:r>
              <a:rPr sz="1500">
                <a:solidFill>
                  <a:srgbClr val="1F2937"/>
                </a:solidFill>
                <a:latin typeface="Calibri"/>
              </a:rPr>
              <a:t>It listens on /input/pose, computes a twist, publishes on /output/cmd_vel.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Remappings in the launch file </a:t>
            </a:r>
            <a:r>
              <a:rPr sz="1500">
                <a:solidFill>
                  <a:srgbClr val="1F2937"/>
                </a:solidFill>
                <a:latin typeface="Calibri"/>
              </a:rPr>
              <a:t>rewire /input → /turtle1/pose and /output → /turtle2/cmd_vel.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Result: </a:t>
            </a:r>
            <a:r>
              <a:rPr sz="1500">
                <a:solidFill>
                  <a:srgbClr val="1F2937"/>
                </a:solidFill>
                <a:latin typeface="Calibri"/>
              </a:rPr>
              <a:t>turtle2 follows turtle1 with zero code changes to mimic.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This is exactly </a:t>
            </a:r>
            <a:r>
              <a:rPr sz="1500">
                <a:solidFill>
                  <a:srgbClr val="1F2937"/>
                </a:solidFill>
                <a:latin typeface="Calibri"/>
              </a:rPr>
              <a:t>how Nav2 wires 15 nodes together. Same pattern, bigger graph.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Recall test — try this without peeking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If you struggle on any of these, re-read that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1. </a:t>
            </a:r>
            <a:r>
              <a:rPr sz="1700">
                <a:solidFill>
                  <a:srgbClr val="1F2937"/>
                </a:solidFill>
                <a:latin typeface="Calibri"/>
              </a:rPr>
              <a:t>What's the difference between a topic, a service, and an action?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2. </a:t>
            </a:r>
            <a:r>
              <a:rPr sz="1700">
                <a:solidFill>
                  <a:srgbClr val="1F2937"/>
                </a:solidFill>
                <a:latin typeface="Calibri"/>
              </a:rPr>
              <a:t>Write the 6-line skeleton of a Python ROS 2 node (no imports needed).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3. </a:t>
            </a:r>
            <a:r>
              <a:rPr sz="1700">
                <a:solidFill>
                  <a:srgbClr val="1F2937"/>
                </a:solidFill>
                <a:latin typeface="Calibri"/>
              </a:rPr>
              <a:t>Which package type (ament_cmake / ament_python) hosts .msg files? Why?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4. </a:t>
            </a:r>
            <a:r>
              <a:rPr sz="1700">
                <a:solidFill>
                  <a:srgbClr val="1F2937"/>
                </a:solidFill>
                <a:latin typeface="Calibri"/>
              </a:rPr>
              <a:t>How do you change a running node's parameter without restarting it?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5. </a:t>
            </a:r>
            <a:r>
              <a:rPr sz="1700">
                <a:solidFill>
                  <a:srgbClr val="1F2937"/>
                </a:solidFill>
                <a:latin typeface="Calibri"/>
              </a:rPr>
              <a:t>What does `colcon build --packages-select foo` do that bare `colcon build` doesn't?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6. </a:t>
            </a:r>
            <a:r>
              <a:rPr sz="1700">
                <a:solidFill>
                  <a:srgbClr val="1F2937"/>
                </a:solidFill>
                <a:latin typeface="Calibri"/>
              </a:rPr>
              <a:t>Name the file you create in a launch file to expose `rate:=50.0` as a CLI override.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7. </a:t>
            </a:r>
            <a:r>
              <a:rPr sz="1700">
                <a:solidFill>
                  <a:srgbClr val="1F2937"/>
                </a:solidFill>
                <a:latin typeface="Calibri"/>
              </a:rPr>
              <a:t>What does `source install/setup.bash` actually modify in your shell?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8. </a:t>
            </a:r>
            <a:r>
              <a:rPr sz="1700">
                <a:solidFill>
                  <a:srgbClr val="1F2937"/>
                </a:solidFill>
                <a:latin typeface="Calibri"/>
              </a:rPr>
              <a:t>Why does the same teleop work for turtlesim AND TurtleBot 3 AND real hardware?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Phase 1 pitfalls — pre-empt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Every one of these has cost me at least 20 minutes the first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Forgot to source setup.bash </a:t>
            </a:r>
            <a:r>
              <a:rPr sz="1500">
                <a:solidFill>
                  <a:srgbClr val="1F2937"/>
                </a:solidFill>
                <a:latin typeface="Calibri"/>
              </a:rPr>
              <a:t>in a new terminal → ros2 commands work but your custom pkg is invisible. Fix: it's in ~/.bashrc already (Step 1.6).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ros2 pkg create with absolute path </a:t>
            </a:r>
            <a:r>
              <a:rPr sz="1500">
                <a:solidFill>
                  <a:srgbClr val="1F2937"/>
                </a:solidFill>
                <a:latin typeface="Calibri"/>
              </a:rPr>
              <a:t>skips the inner Python module folder. Always cd ~/ros2_ws/src first, then use the bare package name.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Edited a .msg but didn't colcon build </a:t>
            </a:r>
            <a:r>
              <a:rPr sz="1500">
                <a:solidFill>
                  <a:srgbClr val="1F2937"/>
                </a:solidFill>
                <a:latin typeface="Calibri"/>
              </a:rPr>
              <a:t>→ subscriber gets stale typedef → silent no-delivery.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Two nodes with the same name on same DOMAIN_ID </a:t>
            </a:r>
            <a:r>
              <a:rPr sz="1500">
                <a:solidFill>
                  <a:srgbClr val="1F2937"/>
                </a:solidFill>
                <a:latin typeface="Calibri"/>
              </a:rPr>
              <a:t>→ undefined behaviour. Use `__node:=` remapping if you need two instances.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Topic exists but echo shows nothing </a:t>
            </a:r>
            <a:r>
              <a:rPr sz="1500">
                <a:solidFill>
                  <a:srgbClr val="1F2937"/>
                </a:solidFill>
                <a:latin typeface="Calibri"/>
              </a:rPr>
              <a:t>→ QoS mismatch. Check `ros2 topic info -v /topic`.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156C8"/>
                </a:solidFill>
                <a:latin typeface="Calibri"/>
              </a:rPr>
              <a:t>Discovery flaky after lots of starts/stops </a:t>
            </a:r>
            <a:r>
              <a:rPr sz="1500">
                <a:solidFill>
                  <a:srgbClr val="1F2937"/>
                </a:solidFill>
                <a:latin typeface="Calibri"/>
              </a:rPr>
              <a:t>→ ros2 daemon stop &amp;&amp; ros2 daemon 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Phase 1 in three arcs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What you built, in order — and what each step unlocked.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Step 1 — Install + smoke test: </a:t>
            </a:r>
            <a:r>
              <a:rPr sz="1600">
                <a:solidFill>
                  <a:srgbClr val="1F2937"/>
                </a:solidFill>
                <a:latin typeface="Calibri"/>
              </a:rPr>
              <a:t>got ROS 2 Jazzy on Ubuntu 24.04 (WSL2), proved pub/sub works end-to-end with talker/listener. → You now have a working dev environment.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Step 2 — Explore the CLI with turtlesim: </a:t>
            </a:r>
            <a:r>
              <a:rPr sz="1600">
                <a:solidFill>
                  <a:srgbClr val="1F2937"/>
                </a:solidFill>
                <a:latin typeface="Calibri"/>
              </a:rPr>
              <a:t>8 substeps drilling nodes, topics, services, parameters, launch files, bags, multi-node configs, and node-composition via mimic. → You now know how to INTROSPECT any ROS 2 system.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Step 3 — Mini-project (odom_demo): </a:t>
            </a:r>
            <a:r>
              <a:rPr sz="1600">
                <a:solidFill>
                  <a:srgbClr val="1F2937"/>
                </a:solidFill>
                <a:latin typeface="Calibri"/>
              </a:rPr>
              <a:t>scaffolded two packages (msgs + python), wrote a publisher + subscriber, defined a custom message, wired entry points, built with colcon, validated with a launch file + CLI overrides. → You now know how to WRITE any ROS 2 system.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4156C8"/>
                </a:solidFill>
                <a:latin typeface="Calibri"/>
              </a:rPr>
              <a:t>Whole loop: </a:t>
            </a:r>
            <a:r>
              <a:rPr sz="1600">
                <a:solidFill>
                  <a:srgbClr val="1F2937"/>
                </a:solidFill>
                <a:latin typeface="Calibri"/>
              </a:rPr>
              <a:t>build → launch → introspect → tweak params → re-launch. This is the dev cycle for the rest of your robotics career.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Five mental models worth 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If you remember only these, you've internalized Phase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1. Robots are graphs of small processes. </a:t>
            </a:r>
            <a:r>
              <a:rPr sz="1700">
                <a:solidFill>
                  <a:srgbClr val="1F2937"/>
                </a:solidFill>
                <a:latin typeface="Calibri"/>
              </a:rPr>
              <a:t>Every behaviour you'll ever write is N nodes connected by typed channels.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2. Interfaces are contracts. </a:t>
            </a:r>
            <a:r>
              <a:rPr sz="1700">
                <a:solidFill>
                  <a:srgbClr val="1F2937"/>
                </a:solidFill>
                <a:latin typeface="Calibri"/>
              </a:rPr>
              <a:t>.msg / .srv / .action files ARE the API. Stable interface → swappable implementation.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3. Launch files are the deployment. </a:t>
            </a:r>
            <a:r>
              <a:rPr sz="1700">
                <a:solidFill>
                  <a:srgbClr val="1F2937"/>
                </a:solidFill>
                <a:latin typeface="Calibri"/>
              </a:rPr>
              <a:t>If you can launch it, you can ship it. Hand-running ros2 run is for debugging.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4. CLI introspection beats reading code. </a:t>
            </a:r>
            <a:r>
              <a:rPr sz="1700">
                <a:solidFill>
                  <a:srgbClr val="1F2937"/>
                </a:solidFill>
                <a:latin typeface="Calibri"/>
              </a:rPr>
              <a:t>ros2 topic / node / param / interface tells you what's ACTUALLY happening at runtime.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5. Same workflow at every scale. </a:t>
            </a:r>
            <a:r>
              <a:rPr sz="1700">
                <a:solidFill>
                  <a:srgbClr val="1F2937"/>
                </a:solidFill>
                <a:latin typeface="Calibri"/>
              </a:rPr>
              <a:t>turtlesim, TurtleBot 3, Nav2, your own robot — pub/sub + launch + params, just more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1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156C8"/>
                </a:solidFill>
                <a:latin typeface="Calibri"/>
              </a:rPr>
              <a:t>Next: Phase 2 — Simulation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67A"/>
                </a:solidFill>
                <a:latin typeface="Calibri"/>
              </a:rPr>
              <a:t>You graduate from turtle 2D to a physically simulated robot.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TurtleBot 3 Burger in Gazebo Classic </a:t>
            </a:r>
            <a:r>
              <a:rPr sz="1700">
                <a:solidFill>
                  <a:srgbClr val="1F2937"/>
                </a:solidFill>
                <a:latin typeface="Calibri"/>
              </a:rPr>
              <a:t>— real lidar, real odometry, real friction.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Same skills you just learned, </a:t>
            </a:r>
            <a:r>
              <a:rPr sz="1700">
                <a:solidFill>
                  <a:srgbClr val="1F2937"/>
                </a:solidFill>
                <a:latin typeface="Calibri"/>
              </a:rPr>
              <a:t>applied to a robot that mirrors what real hardware exposes (/cmd_vel, /odom, /scan).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Mini-project: </a:t>
            </a:r>
            <a:r>
              <a:rPr sz="1700">
                <a:solidFill>
                  <a:srgbClr val="1F2937"/>
                </a:solidFill>
                <a:latin typeface="Calibri"/>
              </a:rPr>
              <a:t>front_distance_monitor — a Python node that watches lidar and warns near walls. Same pub/sub pattern from Phase 1 Step 3, smarter math.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4156C8"/>
                </a:solidFill>
                <a:latin typeface="Calibri"/>
              </a:rPr>
              <a:t>Then Phase 3: </a:t>
            </a:r>
            <a:r>
              <a:rPr sz="1700">
                <a:solidFill>
                  <a:srgbClr val="1F2937"/>
                </a:solidFill>
                <a:latin typeface="Calibri"/>
              </a:rPr>
              <a:t>Nav2 — give the robot a map and a goal, watch it drive itself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E6EAFA"/>
          </a:solidFill>
          <a:ln w="19050">
            <a:solidFill>
              <a:srgbClr val="41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>
                <a:solidFill>
                  <a:srgbClr val="1F2937"/>
                </a:solidFill>
                <a:latin typeface="Calibri"/>
              </a:rPr>
              <a:t>Reminder: the resume marker on the site lives at Phase 1 Step 3.8. Click the 📍 floating pill on the live site to jump back to where you left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Phase 1 — ROS 2 Fundamentals · Internalization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667A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